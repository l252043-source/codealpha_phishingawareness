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2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44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A2F5C"/>
          </a:solidFill>
          <a:ln/>
        </p:spPr>
      </p:sp>
      <p:pic>
        <p:nvPicPr>
          <p:cNvPr id="4" name="Image 0" descr="icons/shield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77240" y="2880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95528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bait. Protect the catch.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528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E23BF-FDCF-46AA-AA84-967D5099395D}"/>
              </a:ext>
            </a:extLst>
          </p:cNvPr>
          <p:cNvSpPr txBox="1"/>
          <p:nvPr/>
        </p:nvSpPr>
        <p:spPr>
          <a:xfrm>
            <a:off x="1268083" y="4261449"/>
            <a:ext cx="2363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Presented by: Muhammad Muneeb</a:t>
            </a:r>
            <a:endParaRPr lang="LID4096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where criminals impersonate a trusted source </a:t>
            </a:r>
            <a:r>
              <a:rPr lang="en-US" sz="1500" b="1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bank, company, or coworker) </a:t>
            </a:r>
            <a:r>
              <a:rPr lang="en-US" sz="150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trick victims into revealing sensitive information, clicking malicious links, or downloading harmful attachments.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relies on human psychology, not just technical flaws — making awareness the strongest defense.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76732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651760" y="3767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 begin with a phishing email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CISA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51846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651760" y="51846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data breaches are phishing-initiated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5852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Verizon DBIR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06640" y="1234440"/>
            <a:ext cx="4206240" cy="4937760"/>
          </a:xfrm>
          <a:prstGeom prst="roundRect">
            <a:avLst>
              <a:gd name="adj" fmla="val 2609"/>
            </a:avLst>
          </a:prstGeom>
          <a:solidFill>
            <a:srgbClr val="1B1F3B"/>
          </a:solidFill>
          <a:ln/>
        </p:spPr>
      </p:sp>
      <p:pic>
        <p:nvPicPr>
          <p:cNvPr id="14" name="Image 0" descr="icons/mail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286000"/>
            <a:ext cx="1005840" cy="10058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772400" y="36576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lands in your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is what it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to be.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61" y="478591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Phishing Attack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8361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attack unfolds in four simple steps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8361" y="182880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2057400"/>
            <a:ext cx="685800" cy="6858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0" descr="icons/mail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48" y="22128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Bait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364992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email, text, or call arrives pretending to be from someone trustworthy.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264408" y="33832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8446" y="182880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30752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239512" y="2057400"/>
            <a:ext cx="685800" cy="6858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1" descr="icons/alert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21284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30752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Hook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730752" y="3364992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creates urgency or fear, pushing you to click a link or open an attachment.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217920" y="33832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176730" y="182880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684264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8193024" y="2057400"/>
            <a:ext cx="685800" cy="6858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1" name="Image 2" descr="icons/link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212848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84264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684264" y="3364992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led to a fake login page that quietly captures your credentials.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9171432" y="33832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096168" y="182880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637776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11146536" y="2057400"/>
            <a:ext cx="685800" cy="6858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8" name="Image 3" descr="icons/usercheck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1984" y="2212848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637776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Payoff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9637776" y="3364992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 stolen data for fraud, theft, or further attacks.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Flags in a Phishing Email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0876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5" name="Image 0" descr="icons/mail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447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sender address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508760" y="184708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 looks legit, but the actual email domain is slightly off (e.g. paypa1.com).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28016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50876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0" name="Image 1" descr="icons/clock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64592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4447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or threats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269480" y="184708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account will be suspended in 24 hours” — pressure clouds judgment.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24612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5" name="Image 2" descr="icons/users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8328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1821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508760" y="358444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“Dear Customer” instead of your actual name suggests a mass campaign.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09360" y="301752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37960" y="324612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0" name="Image 3" descr="icons/link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38328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31821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269480" y="358444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Hovering reveals a URL that doesn't match the claimed organization.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475488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7240" y="498348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5" name="Image 4" descr="icons/help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20640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49194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 &amp; spelling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1508760" y="532180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companies proofread; scam emails often don't.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309360" y="475488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37960" y="498348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0" name="Image 5" descr="icons/alert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5120640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69480" y="49194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7269480" y="532180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or documents you never requested can carry malware.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Fake Websites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9525">
            <a:solidFill>
              <a:srgbClr val="5C61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1691640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6" name="Shape 4"/>
          <p:cNvSpPr/>
          <p:nvPr/>
        </p:nvSpPr>
        <p:spPr>
          <a:xfrm>
            <a:off x="1197864" y="1691640"/>
            <a:ext cx="128016" cy="12801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600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http://paypa1-secure-login.net</a:t>
            </a:r>
            <a:endParaRPr lang="en-US" sz="1300" dirty="0"/>
          </a:p>
        </p:txBody>
      </p:sp>
      <p:pic>
        <p:nvPicPr>
          <p:cNvPr id="8" name="Image 0" descr="icons/check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060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55117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domain carefully — look for misspellings, extra words, or wrong extensions (.net instead of .com)</a:t>
            </a:r>
            <a:endParaRPr lang="en-US" sz="1200" dirty="0"/>
          </a:p>
        </p:txBody>
      </p:sp>
      <p:pic>
        <p:nvPicPr>
          <p:cNvPr id="10" name="Image 1" descr="icons/check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5584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330098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padlock icon only means the connection is encrypted — it does NOT mean the site is trustworthy</a:t>
            </a:r>
            <a:endParaRPr lang="en-US" sz="1200" dirty="0"/>
          </a:p>
        </p:txBody>
      </p:sp>
      <p:pic>
        <p:nvPicPr>
          <p:cNvPr id="12" name="Image 2" descr="icons/check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056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405079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before clicking to preview the real destination URL</a:t>
            </a:r>
            <a:endParaRPr lang="en-US" sz="1200" dirty="0"/>
          </a:p>
        </p:txBody>
      </p:sp>
      <p:pic>
        <p:nvPicPr>
          <p:cNvPr id="14" name="Image 3" descr="icons/check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55464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48006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poor design, broken images, or inconsistent branding</a:t>
            </a:r>
            <a:endParaRPr lang="en-US" sz="1200" dirty="0"/>
          </a:p>
        </p:txBody>
      </p:sp>
      <p:pic>
        <p:nvPicPr>
          <p:cNvPr id="16" name="Image 4" descr="icons/check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605272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555040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enter login details after arriving from an email link — type the address yourself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6126480" y="137160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1B1F3B"/>
          </a:solidFill>
          <a:ln/>
        </p:spPr>
      </p:sp>
      <p:sp>
        <p:nvSpPr>
          <p:cNvPr id="19" name="Text 12"/>
          <p:cNvSpPr/>
          <p:nvPr/>
        </p:nvSpPr>
        <p:spPr>
          <a:xfrm>
            <a:off x="6400800" y="15727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Legit vs. Fake — Quick Check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400800" y="2148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7635240" y="21488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yourbank.com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50976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yourbank-verify.com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6400800" y="27157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7635240" y="27157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your real name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9509760" y="2715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“Dear Customer”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6400800" y="32826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7635240" y="328269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urgent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9509760" y="32826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within 24 hrs!”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400800" y="384962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7635240" y="384962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brand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9509760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Shortened / mismatched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6400800" y="44165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7635240" y="44165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asks for password by email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9509760" y="44165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you to “verify” password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human emotion — not just software bugs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2A2F5C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94560"/>
            <a:ext cx="822960" cy="8229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2377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 &amp; Fear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8404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“Immediate action required” pressures victims to act before thinking.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02152" y="192024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2A2F5C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9412" y="2194560"/>
            <a:ext cx="822960" cy="8229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1" name="Image 1" descr="icons/user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292" y="2377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30752" y="38404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Posing as a boss, bank, or government agency to demand compliance.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55664" y="192024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2A2F5C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92924" y="2194560"/>
            <a:ext cx="822960" cy="8229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6" name="Image 2" descr="icons/hel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804" y="23774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8544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Curiosity &amp; Reward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684264" y="38404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“You've won a prize!” lures victims into clicking without caution.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409176" y="192024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2A2F5C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346436" y="2194560"/>
            <a:ext cx="822960" cy="8229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1" name="Image 3" descr="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9316" y="23774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92056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Exploitation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637776" y="38404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coworker or friend to lower your guard.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Example: CEO Fraud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Business Email Compromise (BEC) scenario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6035040" cy="50292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1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“CEO John Carter” &lt;j.carter@company-finance.co&gt;
</a:t>
            </a:r>
            <a:r>
              <a:rPr lang="en-US" sz="1150" b="1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finance.team@company.com
</a:t>
            </a:r>
            <a:r>
              <a:rPr lang="en-US" sz="1150" b="1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URGENT – Confidential Wire Transfer
</a:t>
            </a: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in a closed meeting and can't talk. I need you to process a wire transfer of $48,500 to a new vendor today. This is time-sensitive and confidential — handle it directly, don't loop in anyone else.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confirmation once done.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John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49440" y="1600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</a:t>
            </a:r>
            <a:endParaRPr lang="en-US" sz="1800" dirty="0"/>
          </a:p>
        </p:txBody>
      </p:sp>
      <p:pic>
        <p:nvPicPr>
          <p:cNvPr id="9" name="Image 0" descr="icons/x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2402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21945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“company-finance.co” mimics the real company domain</a:t>
            </a:r>
            <a:endParaRPr lang="en-US" sz="1200" dirty="0"/>
          </a:p>
        </p:txBody>
      </p:sp>
      <p:pic>
        <p:nvPicPr>
          <p:cNvPr id="11" name="Image 1" descr="icons/x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1089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30632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urgency and secrecy to bypass normal approval steps</a:t>
            </a:r>
            <a:endParaRPr lang="en-US" sz="1200" dirty="0"/>
          </a:p>
        </p:txBody>
      </p:sp>
      <p:pic>
        <p:nvPicPr>
          <p:cNvPr id="13" name="Image 2" descr="icons/x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9776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0920" y="39319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an unusual, one-time action outside standard process</a:t>
            </a:r>
            <a:endParaRPr lang="en-US" sz="1200" dirty="0"/>
          </a:p>
        </p:txBody>
      </p:sp>
      <p:pic>
        <p:nvPicPr>
          <p:cNvPr id="15" name="Image 3" descr="icons/x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84632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60920" y="48006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Discourages verification (“don't loop in anyone else”)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949440" y="5532120"/>
            <a:ext cx="4709160" cy="594360"/>
          </a:xfrm>
          <a:prstGeom prst="roundRect">
            <a:avLst>
              <a:gd name="adj" fmla="val 12308"/>
            </a:avLst>
          </a:prstGeom>
          <a:solidFill>
            <a:srgbClr val="2A9D8F"/>
          </a:solidFill>
          <a:ln/>
        </p:spPr>
      </p:sp>
      <p:sp>
        <p:nvSpPr>
          <p:cNvPr id="18" name="Text 12"/>
          <p:cNvSpPr/>
          <p:nvPr/>
        </p:nvSpPr>
        <p:spPr>
          <a:xfrm>
            <a:off x="7086600" y="55321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move: call the CEO directly on a known number to verify.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Stay Safe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5" name="Image 0" descr="icons/user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361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508760" y="193852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person or company directly using a known number or website — never reply to the suspicious message.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37160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60020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0" name="Image 1" descr="icons/li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7373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5361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blindly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269480" y="193852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website addresses manually instead of clicking links in emails or texts.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10896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33756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5" name="Image 2" descr="icons/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7472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2735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508760" y="367588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stops attackers even if your password is stolen.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09360" y="310896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37960" y="333756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0" name="Image 3" descr="icons/ale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47472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32735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269480" y="367588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organization's “Report Phishing” button to alert IT/security teams.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484632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7240" y="507492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5" name="Image 4" descr="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212080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50109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1508760" y="541324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patch vulnerabilities that phishing malware often exploits.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309360" y="484632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1B1F3B">
                <a:alpha val="2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37960" y="507492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0" name="Image 5" descr="icons/ey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5212080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69480" y="50109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you act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7269480" y="541324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is a tactic — take a breath and think before clicking or replying.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help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 — Test Yourself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2A2F5C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4813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 email from “support@paypa1.com” asks you to confirm your password urgently. What do you do?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2960" y="19019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Click the link and enter your password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Reply asking for more details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25786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Delete/report it and check your account directly via the official site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2A2F5C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26440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of these is the strongest indicator of phishing?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368503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email has a company logo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" y="40233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It creates urgency and asks you to click a link immediately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43616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It's addressed to your email address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493776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2A2F5C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04748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padlock icon in the browser address bar means: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22960" y="5468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site is 100% safe and legitimate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296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connection is encrypted — nothing more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2960" y="614476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site cannot be a phishing page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pic>
        <p:nvPicPr>
          <p:cNvPr id="5" name="Image 0" descr="icons/check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087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clicking — urgency is a manipulation tactic, not a reason to rush</a:t>
            </a:r>
            <a:endParaRPr lang="en-US" sz="1500" dirty="0"/>
          </a:p>
        </p:txBody>
      </p:sp>
      <p:pic>
        <p:nvPicPr>
          <p:cNvPr id="7" name="Image 1" descr="icons/check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30552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20848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senders and links independently, never through the message itself</a:t>
            </a:r>
            <a:endParaRPr lang="en-US" sz="1500" dirty="0"/>
          </a:p>
        </p:txBody>
      </p:sp>
      <p:pic>
        <p:nvPicPr>
          <p:cNvPr id="9" name="Image 2" descr="icons/check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5234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27066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padlock or professional look doesn't guarantee a site is safe</a:t>
            </a:r>
            <a:endParaRPr lang="en-US" sz="1500" dirty="0"/>
          </a:p>
        </p:txBody>
      </p:sp>
      <p:pic>
        <p:nvPicPr>
          <p:cNvPr id="11" name="Image 3" descr="icons/check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74136"/>
            <a:ext cx="310896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25880" y="332841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report it — staying alert protects the whole organization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795528" y="4663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5" name="Text 9"/>
          <p:cNvSpPr/>
          <p:nvPr/>
        </p:nvSpPr>
        <p:spPr>
          <a:xfrm>
            <a:off x="795528" y="5349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979</Words>
  <Application>Microsoft Office PowerPoint</Application>
  <PresentationFormat>Widescreen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muneeb</cp:lastModifiedBy>
  <cp:revision>4</cp:revision>
  <dcterms:created xsi:type="dcterms:W3CDTF">2026-07-18T00:24:19Z</dcterms:created>
  <dcterms:modified xsi:type="dcterms:W3CDTF">2026-07-18T00:35:16Z</dcterms:modified>
</cp:coreProperties>
</file>